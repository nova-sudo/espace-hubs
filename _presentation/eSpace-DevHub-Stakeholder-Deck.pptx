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eSpace</a:t>
            </a:r>
            <a:pPr indent="0" marL="0">
              <a:buNone/>
            </a:pPr>
            <a:r>
              <a:rPr lang="en-US" sz="1300" b="1" spc="-60" kern="0" dirty="0">
                <a:solidFill>
                  <a:srgbClr val="3826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/</a:t>
            </a:r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E9E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v0.4 PREVIEW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99471" y="786384"/>
            <a:ext cx="41148" cy="41148"/>
          </a:xfrm>
          <a:prstGeom prst="ellipse">
            <a:avLst/>
          </a:prstGeom>
          <a:solidFill>
            <a:srgbClr val="3826FF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786384"/>
            <a:ext cx="41148" cy="41148"/>
          </a:xfrm>
          <a:prstGeom prst="ellipse">
            <a:avLst/>
          </a:prstGeom>
          <a:solidFill>
            <a:srgbClr val="3826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92079" y="786384"/>
            <a:ext cx="41148" cy="41148"/>
          </a:xfrm>
          <a:prstGeom prst="ellipse">
            <a:avLst/>
          </a:prstGeom>
          <a:solidFill>
            <a:srgbClr val="3826FF">
              <a:alpha val="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53167" y="932688"/>
            <a:ext cx="41148" cy="41148"/>
          </a:xfrm>
          <a:prstGeom prst="ellipse">
            <a:avLst/>
          </a:prstGeom>
          <a:solidFill>
            <a:srgbClr val="3826FF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399471" y="932688"/>
            <a:ext cx="41148" cy="41148"/>
          </a:xfrm>
          <a:prstGeom prst="ellipse">
            <a:avLst/>
          </a:prstGeom>
          <a:solidFill>
            <a:srgbClr val="3826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45775" y="932688"/>
            <a:ext cx="41148" cy="41148"/>
          </a:xfrm>
          <a:prstGeom prst="ellipse">
            <a:avLst/>
          </a:prstGeom>
          <a:solidFill>
            <a:srgbClr val="3826FF">
              <a:alpha val="21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692079" y="932688"/>
            <a:ext cx="41148" cy="41148"/>
          </a:xfrm>
          <a:prstGeom prst="ellipse">
            <a:avLst/>
          </a:prstGeom>
          <a:solidFill>
            <a:srgbClr val="3826FF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38383" y="932688"/>
            <a:ext cx="41148" cy="41148"/>
          </a:xfrm>
          <a:prstGeom prst="ellipse">
            <a:avLst/>
          </a:prstGeom>
          <a:solidFill>
            <a:srgbClr val="3826FF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106863" y="1078992"/>
            <a:ext cx="41148" cy="41148"/>
          </a:xfrm>
          <a:prstGeom prst="ellipse">
            <a:avLst/>
          </a:prstGeom>
          <a:solidFill>
            <a:srgbClr val="3826FF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253167" y="1078992"/>
            <a:ext cx="41148" cy="41148"/>
          </a:xfrm>
          <a:prstGeom prst="ellipse">
            <a:avLst/>
          </a:prstGeom>
          <a:solidFill>
            <a:srgbClr val="3826FF">
              <a:alpha val="2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99471" y="1078992"/>
            <a:ext cx="41148" cy="41148"/>
          </a:xfrm>
          <a:prstGeom prst="ellipse">
            <a:avLst/>
          </a:prstGeom>
          <a:solidFill>
            <a:srgbClr val="3826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545775" y="1078992"/>
            <a:ext cx="41148" cy="41148"/>
          </a:xfrm>
          <a:prstGeom prst="ellipse">
            <a:avLst/>
          </a:prstGeom>
          <a:solidFill>
            <a:srgbClr val="3826FF">
              <a:alpha val="33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92079" y="1078992"/>
            <a:ext cx="41148" cy="41148"/>
          </a:xfrm>
          <a:prstGeom prst="ellipse">
            <a:avLst/>
          </a:prstGeom>
          <a:solidFill>
            <a:srgbClr val="3826FF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838383" y="1078992"/>
            <a:ext cx="41148" cy="41148"/>
          </a:xfrm>
          <a:prstGeom prst="ellipse">
            <a:avLst/>
          </a:prstGeom>
          <a:solidFill>
            <a:srgbClr val="3826FF">
              <a:alpha val="23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984687" y="1078992"/>
            <a:ext cx="41148" cy="41148"/>
          </a:xfrm>
          <a:prstGeom prst="ellipse">
            <a:avLst/>
          </a:prstGeom>
          <a:solidFill>
            <a:srgbClr val="3826FF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960559" y="1225296"/>
            <a:ext cx="41148" cy="41148"/>
          </a:xfrm>
          <a:prstGeom prst="ellipse">
            <a:avLst/>
          </a:prstGeom>
          <a:solidFill>
            <a:srgbClr val="3826FF">
              <a:alpha val="9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106863" y="1225296"/>
            <a:ext cx="41148" cy="41148"/>
          </a:xfrm>
          <a:prstGeom prst="ellipse">
            <a:avLst/>
          </a:prstGeom>
          <a:solidFill>
            <a:srgbClr val="3826FF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253167" y="1225296"/>
            <a:ext cx="41148" cy="41148"/>
          </a:xfrm>
          <a:prstGeom prst="ellipse">
            <a:avLst/>
          </a:prstGeom>
          <a:solidFill>
            <a:srgbClr val="3826FF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399471" y="1225296"/>
            <a:ext cx="41148" cy="41148"/>
          </a:xfrm>
          <a:prstGeom prst="ellipse">
            <a:avLst/>
          </a:prstGeom>
          <a:solidFill>
            <a:srgbClr val="3826FF">
              <a:alpha val="39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545775" y="1225296"/>
            <a:ext cx="41148" cy="41148"/>
          </a:xfrm>
          <a:prstGeom prst="ellipse">
            <a:avLst/>
          </a:prstGeom>
          <a:solidFill>
            <a:srgbClr val="3826FF">
              <a:alpha val="4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692079" y="1225296"/>
            <a:ext cx="41148" cy="41148"/>
          </a:xfrm>
          <a:prstGeom prst="ellipse">
            <a:avLst/>
          </a:prstGeom>
          <a:solidFill>
            <a:srgbClr val="3826FF">
              <a:alpha val="39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838383" y="1225296"/>
            <a:ext cx="41148" cy="41148"/>
          </a:xfrm>
          <a:prstGeom prst="ellipse">
            <a:avLst/>
          </a:prstGeom>
          <a:solidFill>
            <a:srgbClr val="3826FF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984687" y="1225296"/>
            <a:ext cx="41148" cy="41148"/>
          </a:xfrm>
          <a:prstGeom prst="ellipse">
            <a:avLst/>
          </a:prstGeom>
          <a:solidFill>
            <a:srgbClr val="3826F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130991" y="1225296"/>
            <a:ext cx="41148" cy="41148"/>
          </a:xfrm>
          <a:prstGeom prst="ellipse">
            <a:avLst/>
          </a:prstGeom>
          <a:solidFill>
            <a:srgbClr val="3826FF">
              <a:alpha val="9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960559" y="1371600"/>
            <a:ext cx="41148" cy="41148"/>
          </a:xfrm>
          <a:prstGeom prst="ellipse">
            <a:avLst/>
          </a:prstGeom>
          <a:solidFill>
            <a:srgbClr val="3826FF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106863" y="1371600"/>
            <a:ext cx="41148" cy="41148"/>
          </a:xfrm>
          <a:prstGeom prst="ellipse">
            <a:avLst/>
          </a:prstGeom>
          <a:solidFill>
            <a:srgbClr val="3826FF">
              <a:alpha val="21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253167" y="1371600"/>
            <a:ext cx="41148" cy="41148"/>
          </a:xfrm>
          <a:prstGeom prst="ellipse">
            <a:avLst/>
          </a:prstGeom>
          <a:solidFill>
            <a:srgbClr val="3826FF">
              <a:alpha val="3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399471" y="1371600"/>
            <a:ext cx="41148" cy="41148"/>
          </a:xfrm>
          <a:prstGeom prst="ellipse">
            <a:avLst/>
          </a:prstGeom>
          <a:solidFill>
            <a:srgbClr val="3826FF">
              <a:alpha val="4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545775" y="1371600"/>
            <a:ext cx="41148" cy="41148"/>
          </a:xfrm>
          <a:prstGeom prst="ellipse">
            <a:avLst/>
          </a:prstGeom>
          <a:solidFill>
            <a:srgbClr val="3826FF">
              <a:alpha val="5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692079" y="1371600"/>
            <a:ext cx="41148" cy="41148"/>
          </a:xfrm>
          <a:prstGeom prst="ellipse">
            <a:avLst/>
          </a:prstGeom>
          <a:solidFill>
            <a:srgbClr val="3826FF">
              <a:alpha val="4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838383" y="1371600"/>
            <a:ext cx="41148" cy="41148"/>
          </a:xfrm>
          <a:prstGeom prst="ellipse">
            <a:avLst/>
          </a:prstGeom>
          <a:solidFill>
            <a:srgbClr val="3826FF">
              <a:alpha val="33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984687" y="1371600"/>
            <a:ext cx="41148" cy="41148"/>
          </a:xfrm>
          <a:prstGeom prst="ellipse">
            <a:avLst/>
          </a:prstGeom>
          <a:solidFill>
            <a:srgbClr val="3826FF">
              <a:alpha val="21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130991" y="1371600"/>
            <a:ext cx="41148" cy="41148"/>
          </a:xfrm>
          <a:prstGeom prst="ellipse">
            <a:avLst/>
          </a:prstGeom>
          <a:solidFill>
            <a:srgbClr val="3826FF">
              <a:alpha val="1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960559" y="1517904"/>
            <a:ext cx="41148" cy="41148"/>
          </a:xfrm>
          <a:prstGeom prst="ellipse">
            <a:avLst/>
          </a:prstGeom>
          <a:solidFill>
            <a:srgbClr val="3826FF">
              <a:alpha val="9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106863" y="1517904"/>
            <a:ext cx="41148" cy="41148"/>
          </a:xfrm>
          <a:prstGeom prst="ellipse">
            <a:avLst/>
          </a:prstGeom>
          <a:solidFill>
            <a:srgbClr val="3826FF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253167" y="1517904"/>
            <a:ext cx="41148" cy="41148"/>
          </a:xfrm>
          <a:prstGeom prst="ellipse">
            <a:avLst/>
          </a:prstGeom>
          <a:solidFill>
            <a:srgbClr val="3826FF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399471" y="1517904"/>
            <a:ext cx="41148" cy="41148"/>
          </a:xfrm>
          <a:prstGeom prst="ellipse">
            <a:avLst/>
          </a:prstGeom>
          <a:solidFill>
            <a:srgbClr val="3826FF">
              <a:alpha val="39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545775" y="1517904"/>
            <a:ext cx="41148" cy="41148"/>
          </a:xfrm>
          <a:prstGeom prst="ellipse">
            <a:avLst/>
          </a:prstGeom>
          <a:solidFill>
            <a:srgbClr val="3826FF">
              <a:alpha val="4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692079" y="1517904"/>
            <a:ext cx="41148" cy="41148"/>
          </a:xfrm>
          <a:prstGeom prst="ellipse">
            <a:avLst/>
          </a:prstGeom>
          <a:solidFill>
            <a:srgbClr val="3826FF">
              <a:alpha val="39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838383" y="1517904"/>
            <a:ext cx="41148" cy="41148"/>
          </a:xfrm>
          <a:prstGeom prst="ellipse">
            <a:avLst/>
          </a:prstGeom>
          <a:solidFill>
            <a:srgbClr val="3826FF">
              <a:alpha val="3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984687" y="1517904"/>
            <a:ext cx="41148" cy="41148"/>
          </a:xfrm>
          <a:prstGeom prst="ellipse">
            <a:avLst/>
          </a:prstGeom>
          <a:solidFill>
            <a:srgbClr val="3826FF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130991" y="1517904"/>
            <a:ext cx="41148" cy="41148"/>
          </a:xfrm>
          <a:prstGeom prst="ellipse">
            <a:avLst/>
          </a:prstGeom>
          <a:solidFill>
            <a:srgbClr val="3826FF">
              <a:alpha val="9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06863" y="1664208"/>
            <a:ext cx="41148" cy="41148"/>
          </a:xfrm>
          <a:prstGeom prst="ellipse">
            <a:avLst/>
          </a:prstGeom>
          <a:solidFill>
            <a:srgbClr val="3826FF">
              <a:alpha val="1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253167" y="1664208"/>
            <a:ext cx="41148" cy="41148"/>
          </a:xfrm>
          <a:prstGeom prst="ellipse">
            <a:avLst/>
          </a:prstGeom>
          <a:solidFill>
            <a:srgbClr val="3826FF">
              <a:alpha val="23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399471" y="1664208"/>
            <a:ext cx="41148" cy="41148"/>
          </a:xfrm>
          <a:prstGeom prst="ellipse">
            <a:avLst/>
          </a:prstGeom>
          <a:solidFill>
            <a:srgbClr val="3826FF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545775" y="1664208"/>
            <a:ext cx="41148" cy="41148"/>
          </a:xfrm>
          <a:prstGeom prst="ellipse">
            <a:avLst/>
          </a:prstGeom>
          <a:solidFill>
            <a:srgbClr val="3826FF">
              <a:alpha val="33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692079" y="1664208"/>
            <a:ext cx="41148" cy="41148"/>
          </a:xfrm>
          <a:prstGeom prst="ellipse">
            <a:avLst/>
          </a:prstGeom>
          <a:solidFill>
            <a:srgbClr val="3826FF">
              <a:alpha val="3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838383" y="1664208"/>
            <a:ext cx="41148" cy="41148"/>
          </a:xfrm>
          <a:prstGeom prst="ellipse">
            <a:avLst/>
          </a:prstGeom>
          <a:solidFill>
            <a:srgbClr val="3826FF">
              <a:alpha val="23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984687" y="1664208"/>
            <a:ext cx="41148" cy="41148"/>
          </a:xfrm>
          <a:prstGeom prst="ellipse">
            <a:avLst/>
          </a:prstGeom>
          <a:solidFill>
            <a:srgbClr val="3826FF">
              <a:alpha val="1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253167" y="1810512"/>
            <a:ext cx="41148" cy="41148"/>
          </a:xfrm>
          <a:prstGeom prst="ellipse">
            <a:avLst/>
          </a:prstGeom>
          <a:solidFill>
            <a:srgbClr val="3826FF">
              <a:alpha val="1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399471" y="1810512"/>
            <a:ext cx="41148" cy="41148"/>
          </a:xfrm>
          <a:prstGeom prst="ellipse">
            <a:avLst/>
          </a:prstGeom>
          <a:solidFill>
            <a:srgbClr val="3826FF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545775" y="1810512"/>
            <a:ext cx="41148" cy="41148"/>
          </a:xfrm>
          <a:prstGeom prst="ellipse">
            <a:avLst/>
          </a:prstGeom>
          <a:solidFill>
            <a:srgbClr val="3826FF">
              <a:alpha val="21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692079" y="1810512"/>
            <a:ext cx="41148" cy="41148"/>
          </a:xfrm>
          <a:prstGeom prst="ellipse">
            <a:avLst/>
          </a:prstGeom>
          <a:solidFill>
            <a:srgbClr val="3826FF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838383" y="1810512"/>
            <a:ext cx="41148" cy="41148"/>
          </a:xfrm>
          <a:prstGeom prst="ellipse">
            <a:avLst/>
          </a:prstGeom>
          <a:solidFill>
            <a:srgbClr val="3826FF">
              <a:alpha val="1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399471" y="1956816"/>
            <a:ext cx="41148" cy="41148"/>
          </a:xfrm>
          <a:prstGeom prst="ellipse">
            <a:avLst/>
          </a:prstGeom>
          <a:solidFill>
            <a:srgbClr val="3826FF">
              <a:alpha val="9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545775" y="1956816"/>
            <a:ext cx="41148" cy="41148"/>
          </a:xfrm>
          <a:prstGeom prst="ellipse">
            <a:avLst/>
          </a:prstGeom>
          <a:solidFill>
            <a:srgbClr val="3826FF">
              <a:alpha val="1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692079" y="1956816"/>
            <a:ext cx="41148" cy="41148"/>
          </a:xfrm>
          <a:prstGeom prst="ellipse">
            <a:avLst/>
          </a:prstGeom>
          <a:solidFill>
            <a:srgbClr val="3826FF">
              <a:alpha val="9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WK 17 · APR 20 — APR 26 · STAKEHOLDER OVERVIEW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57200" y="1920240"/>
            <a:ext cx="10058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spc="-300" kern="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Measure. </a:t>
            </a:r>
            <a:pPr indent="0" marL="0">
              <a:buNone/>
            </a:pPr>
            <a:r>
              <a:rPr lang="en-US" sz="11000" b="1" spc="-300" kern="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Merge. </a:t>
            </a:r>
            <a:pPr indent="0" marL="0">
              <a:buNone/>
            </a:pPr>
            <a:r>
              <a:rPr lang="en-US" sz="11000" b="1" spc="-3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Make the </a:t>
            </a:r>
            <a:pPr indent="0" marL="0">
              <a:buNone/>
            </a:pPr>
            <a:r>
              <a:rPr lang="en-US" sz="11000" b="1" i="1" spc="-300" kern="0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</a:t>
            </a:r>
            <a:pPr indent="0" marL="0">
              <a:buNone/>
            </a:pPr>
            <a:r>
              <a:rPr lang="en-US" sz="11000" b="1" spc="-3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</a:t>
            </a:r>
            <a:endParaRPr lang="en-US" sz="11000" dirty="0"/>
          </a:p>
        </p:txBody>
      </p:sp>
      <p:sp>
        <p:nvSpPr>
          <p:cNvPr id="63" name="Text 61"/>
          <p:cNvSpPr/>
          <p:nvPr/>
        </p:nvSpPr>
        <p:spPr>
          <a:xfrm>
            <a:off x="457200" y="4663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quiet performance dashboard for loud review seasons. Pulls Jira, GitLab, and GitHub into one receipts-ready view — and lets an AI build the rest.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57200" y="6035040"/>
            <a:ext cx="11277295" cy="0"/>
          </a:xfrm>
          <a:prstGeom prst="line">
            <a:avLst/>
          </a:prstGeom>
          <a:noFill/>
          <a:ln w="6350">
            <a:solidFill>
              <a:srgbClr val="DCDAC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6217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ESPACE.DEV / INTERNAL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705295" y="6217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 2026 · BUILT FOR THE PERFORMANCE CYCLE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pPr algn="r" indent="0" marL="0">
              <a:buNone/>
            </a:pPr>
            <a:r>
              <a:rPr lang="en-US" sz="9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eSpace</a:t>
            </a:r>
            <a:pPr indent="0" marL="0">
              <a:buNone/>
            </a:pPr>
            <a:r>
              <a:rPr lang="en-US" sz="1300" b="1" spc="-60" kern="0" dirty="0">
                <a:solidFill>
                  <a:srgbClr val="3826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/</a:t>
            </a:r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E9E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v0.4 PREVIEW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-15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Performance season is </a:t>
            </a:r>
            <a:pPr indent="0" marL="0">
              <a:buNone/>
            </a:pPr>
            <a:r>
              <a:rPr lang="en-US" sz="5000" b="1" i="1" spc="-150" kern="0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scavenger hunting</a:t>
            </a:r>
            <a:pPr indent="0" marL="0">
              <a:buNone/>
            </a:pPr>
            <a:r>
              <a:rPr lang="en-US" sz="5000" b="1" spc="-15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1277295" cy="0"/>
          </a:xfrm>
          <a:prstGeom prst="line">
            <a:avLst/>
          </a:prstGeom>
          <a:noFill/>
          <a:ln w="6350">
            <a:solidFill>
              <a:srgbClr val="DCDA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383280"/>
            <a:ext cx="363717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023360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Evidence is everywhere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4572000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PRs in GitHub. MRs in GitLab. Tickets in Jira. Reviews on Slack. By April nobody can remember what they shipped in February.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7258" y="3383280"/>
            <a:ext cx="363717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5858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05858" y="4023360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Goals don't fit one shape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05858" y="4572000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Some L2s are countable (merged PRs, review rounds). Others are judgement calls (mentoring, leadership, quality). Spreadsheets force everything into the same column.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7317" y="3383280"/>
            <a:ext cx="363717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5917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5917" y="4023360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story has to be re-told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5917" y="4572000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1:1, mid-cycle, end-of-cycle, promo packet — same story, four formats, all of it manual.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pPr algn="r" indent="0" marL="0">
              <a:buNone/>
            </a:pPr>
            <a:r>
              <a:rPr lang="en-US" sz="9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eSpace</a:t>
            </a:r>
            <a:pPr indent="0" marL="0">
              <a:buNone/>
            </a:pPr>
            <a:r>
              <a:rPr lang="en-US" sz="1300" b="1" spc="-60" kern="0" dirty="0">
                <a:solidFill>
                  <a:srgbClr val="3826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/</a:t>
            </a:r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E9E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v0.4 PREVIEW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430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2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 dashboard. Three connectors. </a:t>
            </a:r>
            <a:pPr indent="0" marL="0">
              <a:buNone/>
            </a:pPr>
            <a:r>
              <a:rPr lang="en-US" sz="4400" b="1" i="1" spc="-120" kern="0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pPr indent="0" marL="0">
              <a:buNone/>
            </a:pPr>
            <a:r>
              <a:rPr lang="en-US" sz="4400" b="1" spc="-12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for the rest.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1277295" cy="0"/>
          </a:xfrm>
          <a:prstGeom prst="line">
            <a:avLst/>
          </a:prstGeom>
          <a:noFill/>
          <a:ln w="6350">
            <a:solidFill>
              <a:srgbClr val="DCDA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383280"/>
            <a:ext cx="2716454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DDD9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21678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Jira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892040"/>
            <a:ext cx="21678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Tickets, statuses, due dates, assignee — straight from the work tracker.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10814" y="3383280"/>
            <a:ext cx="2716454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85134" y="3657600"/>
            <a:ext cx="502920" cy="502920"/>
          </a:xfrm>
          <a:prstGeom prst="ellipse">
            <a:avLst/>
          </a:prstGeom>
          <a:solidFill>
            <a:srgbClr val="DDD9FF"/>
          </a:solidFill>
          <a:ln/>
        </p:spPr>
      </p:sp>
      <p:sp>
        <p:nvSpPr>
          <p:cNvPr id="14" name="Text 12"/>
          <p:cNvSpPr/>
          <p:nvPr/>
        </p:nvSpPr>
        <p:spPr>
          <a:xfrm>
            <a:off x="3585134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85134" y="4297680"/>
            <a:ext cx="21678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GitLab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85134" y="4892040"/>
            <a:ext cx="21678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MRs, reviews, code-review rounds, turnaround. Self-hosted-friendly via PAT.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64428" y="3383280"/>
            <a:ext cx="2716454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8748" y="3657600"/>
            <a:ext cx="502920" cy="502920"/>
          </a:xfrm>
          <a:prstGeom prst="ellipse">
            <a:avLst/>
          </a:prstGeom>
          <a:solidFill>
            <a:srgbClr val="DDD9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38748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38748" y="4297680"/>
            <a:ext cx="21678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GitHub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38748" y="4892040"/>
            <a:ext cx="21678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PRs, merges, comments, push events. OAuth — pulls year-to-date for grading.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18041" y="3383280"/>
            <a:ext cx="2716454" cy="2651760"/>
          </a:xfrm>
          <a:prstGeom prst="rect">
            <a:avLst/>
          </a:prstGeom>
          <a:solidFill>
            <a:srgbClr val="3826FF"/>
          </a:solidFill>
          <a:ln w="9525">
            <a:solidFill>
              <a:srgbClr val="382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92361" y="36576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292361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92361" y="4297680"/>
            <a:ext cx="21678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Goal Analyst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292361" y="4892040"/>
            <a:ext cx="21678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6D2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Mistral classifies each L1 / L2, picks (or invents) the widget that tracks it.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pPr algn="r" indent="0" marL="0">
              <a:buNone/>
            </a:pPr>
            <a:r>
              <a:rPr lang="en-US" sz="9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eSpace</a:t>
            </a:r>
            <a:pPr indent="0" marL="0">
              <a:buNone/>
            </a:pPr>
            <a:r>
              <a:rPr lang="en-US" sz="1300" b="1" spc="-60" kern="0" dirty="0">
                <a:solidFill>
                  <a:srgbClr val="3826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/</a:t>
            </a:r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E9E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v0.4 PREVIEW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DASHBOARD AT A GLANCE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Five </a:t>
            </a:r>
            <a:pPr indent="0" marL="0">
              <a:buNone/>
            </a:pPr>
            <a:r>
              <a:rPr lang="en-US" sz="4000" b="1" i="1" spc="-100" kern="0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scroll-snap</a:t>
            </a:r>
            <a:pPr indent="0" marL="0">
              <a:buNone/>
            </a:pPr>
            <a:r>
              <a:rPr lang="en-US" sz="4000" b="1" spc="-1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sections. One viewport each.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1277295" cy="0"/>
          </a:xfrm>
          <a:prstGeom prst="line">
            <a:avLst/>
          </a:prstGeom>
          <a:noFill/>
          <a:ln w="6350">
            <a:solidFill>
              <a:srgbClr val="DCDA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383280"/>
            <a:ext cx="112772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38328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23360" y="3383280"/>
            <a:ext cx="7619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Hero · 14d signal · integrations · merged · review rounds · Jira linkage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005072"/>
            <a:ext cx="112772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0507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40050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 your plate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23360" y="4005072"/>
            <a:ext cx="7619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Attention nudges · Jira kanban · open PRs / linked commits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26864"/>
            <a:ext cx="112772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62686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80160" y="46268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Goals &amp; evidence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4626864"/>
            <a:ext cx="7619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 / L2 tree · weekly snapshots · accent EVIDENCE export tile · recent commits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248656"/>
            <a:ext cx="112772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24865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80160" y="52486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Trends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23360" y="5248656"/>
            <a:ext cx="7619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Activity area chart · turnaround histogram · reviews-given list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870448"/>
            <a:ext cx="11277295" cy="566928"/>
          </a:xfrm>
          <a:prstGeom prst="rect">
            <a:avLst/>
          </a:prstGeom>
          <a:solidFill>
            <a:srgbClr val="3826FF"/>
          </a:solidFill>
          <a:ln w="9525">
            <a:solidFill>
              <a:srgbClr val="382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87044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280160" y="58704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Goal tracking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023360" y="5870448"/>
            <a:ext cx="7619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D6D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AI-classified widgets — auto, manual, hybrid, AI-graded. Inverse theme (white-on-indigo).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pPr algn="r" indent="0" marL="0">
              <a:buNone/>
            </a:pPr>
            <a:r>
              <a:rPr lang="en-US" sz="9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82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6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eSpace</a:t>
            </a:r>
            <a:pPr indent="0" marL="0">
              <a:buNone/>
            </a:pPr>
            <a:r>
              <a:rPr lang="en-US" sz="1300" b="1" spc="-60" kern="0" dirty="0">
                <a:solidFill>
                  <a:srgbClr val="B8B0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/</a:t>
            </a:r>
            <a:pPr indent="0" marL="0">
              <a:buNone/>
            </a:pPr>
            <a:r>
              <a:rPr lang="en-US" sz="1300" b="1" spc="-6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DevHub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33711" y="1243584"/>
            <a:ext cx="41148" cy="41148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80015" y="1243584"/>
            <a:ext cx="41148" cy="4114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26319" y="1243584"/>
            <a:ext cx="41148" cy="41148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87407" y="1389888"/>
            <a:ext cx="41148" cy="4114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33711" y="1389888"/>
            <a:ext cx="41148" cy="4114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80015" y="1389888"/>
            <a:ext cx="41148" cy="41148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326319" y="1389888"/>
            <a:ext cx="41148" cy="4114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72623" y="1389888"/>
            <a:ext cx="41148" cy="4114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741103" y="1536192"/>
            <a:ext cx="41148" cy="4114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887407" y="1536192"/>
            <a:ext cx="41148" cy="41148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033711" y="1536192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180015" y="1536192"/>
            <a:ext cx="41148" cy="41148"/>
          </a:xfrm>
          <a:prstGeom prst="ellipse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326319" y="1536192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72623" y="1536192"/>
            <a:ext cx="41148" cy="41148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618927" y="1536192"/>
            <a:ext cx="41148" cy="4114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594799" y="1682496"/>
            <a:ext cx="41148" cy="41148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41103" y="1682496"/>
            <a:ext cx="41148" cy="4114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887407" y="1682496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033711" y="1682496"/>
            <a:ext cx="41148" cy="41148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180015" y="1682496"/>
            <a:ext cx="41148" cy="41148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326319" y="1682496"/>
            <a:ext cx="41148" cy="41148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472623" y="1682496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618927" y="1682496"/>
            <a:ext cx="41148" cy="4114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765231" y="1682496"/>
            <a:ext cx="41148" cy="41148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594799" y="1828800"/>
            <a:ext cx="41148" cy="4114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741103" y="1828800"/>
            <a:ext cx="41148" cy="41148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887407" y="1828800"/>
            <a:ext cx="41148" cy="41148"/>
          </a:xfrm>
          <a:prstGeom prst="ellipse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033711" y="1828800"/>
            <a:ext cx="41148" cy="41148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180015" y="1828800"/>
            <a:ext cx="41148" cy="41148"/>
          </a:xfrm>
          <a:prstGeom prst="ellipse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326319" y="1828800"/>
            <a:ext cx="41148" cy="41148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472623" y="1828800"/>
            <a:ext cx="41148" cy="41148"/>
          </a:xfrm>
          <a:prstGeom prst="ellipse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618927" y="1828800"/>
            <a:ext cx="41148" cy="41148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765231" y="1828800"/>
            <a:ext cx="41148" cy="4114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594799" y="1975104"/>
            <a:ext cx="41148" cy="41148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741103" y="1975104"/>
            <a:ext cx="41148" cy="4114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887407" y="1975104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033711" y="1975104"/>
            <a:ext cx="41148" cy="41148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180015" y="1975104"/>
            <a:ext cx="41148" cy="41148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326319" y="1975104"/>
            <a:ext cx="41148" cy="41148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472623" y="1975104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618927" y="1975104"/>
            <a:ext cx="41148" cy="4114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765231" y="1975104"/>
            <a:ext cx="41148" cy="41148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741103" y="2121408"/>
            <a:ext cx="41148" cy="4114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887407" y="2121408"/>
            <a:ext cx="41148" cy="41148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033711" y="2121408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180015" y="2121408"/>
            <a:ext cx="41148" cy="41148"/>
          </a:xfrm>
          <a:prstGeom prst="ellipse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326319" y="2121408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472623" y="2121408"/>
            <a:ext cx="41148" cy="41148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618927" y="2121408"/>
            <a:ext cx="41148" cy="4114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887407" y="2267712"/>
            <a:ext cx="41148" cy="4114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033711" y="2267712"/>
            <a:ext cx="41148" cy="4114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180015" y="2267712"/>
            <a:ext cx="41148" cy="41148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326319" y="2267712"/>
            <a:ext cx="41148" cy="4114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472623" y="2267712"/>
            <a:ext cx="41148" cy="4114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033711" y="2414016"/>
            <a:ext cx="41148" cy="41148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180015" y="2414016"/>
            <a:ext cx="41148" cy="4114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326319" y="2414016"/>
            <a:ext cx="41148" cy="41148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9A9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THE DIFFERENTIATOR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57200" y="16916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An </a:t>
            </a:r>
            <a:pPr indent="0" marL="0">
              <a:buNone/>
            </a:pPr>
            <a:r>
              <a:rPr lang="en-US" sz="4800" b="1" i="1" spc="-12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Analyst</a:t>
            </a:r>
            <a:pPr indent="0" marL="0"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that builds the widgets.</a:t>
            </a:r>
            <a:endParaRPr lang="en-US" sz="4800" dirty="0"/>
          </a:p>
        </p:txBody>
      </p:sp>
      <p:sp>
        <p:nvSpPr>
          <p:cNvPr id="62" name="Shape 60"/>
          <p:cNvSpPr/>
          <p:nvPr/>
        </p:nvSpPr>
        <p:spPr>
          <a:xfrm>
            <a:off x="457200" y="3657600"/>
            <a:ext cx="2716454" cy="1828800"/>
          </a:xfrm>
          <a:prstGeom prst="rect">
            <a:avLst/>
          </a:prstGeom>
          <a:solidFill>
            <a:srgbClr val="5042FF"/>
          </a:solidFill>
          <a:ln w="6350">
            <a:solidFill>
              <a:srgbClr val="9A91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85800" y="4251960"/>
            <a:ext cx="2259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Read goals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85800" y="4709160"/>
            <a:ext cx="2259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2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User pastes L1 / L2 tree once. Editor captures title, description, rubric, priority, dates, weight, category.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310814" y="3657600"/>
            <a:ext cx="2716454" cy="1828800"/>
          </a:xfrm>
          <a:prstGeom prst="rect">
            <a:avLst/>
          </a:prstGeom>
          <a:solidFill>
            <a:srgbClr val="5042FF"/>
          </a:solidFill>
          <a:ln w="6350">
            <a:solidFill>
              <a:srgbClr val="9A91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39414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3539414" y="4251960"/>
            <a:ext cx="2259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Classify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539414" y="4709160"/>
            <a:ext cx="2259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2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Mistral streams a verdict per goal: auto, manual, hybrid, or delegated. Reasoning shown live.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164428" y="3657600"/>
            <a:ext cx="2716454" cy="1828800"/>
          </a:xfrm>
          <a:prstGeom prst="rect">
            <a:avLst/>
          </a:prstGeom>
          <a:solidFill>
            <a:srgbClr val="5042FF"/>
          </a:solidFill>
          <a:ln w="6350">
            <a:solidFill>
              <a:srgbClr val="9A91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93028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6393028" y="4251960"/>
            <a:ext cx="2259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Build the widget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393028" y="4709160"/>
            <a:ext cx="2259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2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Spec maps to one of 12 widgets. Auto pulls from integrations; manual prompts the user; AI-graded scores PRs.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018041" y="3657600"/>
            <a:ext cx="2716454" cy="1828800"/>
          </a:xfrm>
          <a:prstGeom prst="rect">
            <a:avLst/>
          </a:prstGeom>
          <a:solidFill>
            <a:srgbClr val="5042FF"/>
          </a:solidFill>
          <a:ln w="6350">
            <a:solidFill>
              <a:srgbClr val="9A91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246641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9246641" y="4251960"/>
            <a:ext cx="2259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Track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9246641" y="4709160"/>
            <a:ext cx="2259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2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Section 5 + analyst page render the widget grid. Re-analyze any goal in one click.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pPr algn="r" indent="0" marL="0">
              <a:buNone/>
            </a:pPr>
            <a:r>
              <a:rPr lang="en-US" sz="900" spc="400" kern="0" dirty="0">
                <a:solidFill>
                  <a:srgbClr val="9A9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eSpace</a:t>
            </a:r>
            <a:pPr indent="0" marL="0">
              <a:buNone/>
            </a:pPr>
            <a:r>
              <a:rPr lang="en-US" sz="1300" b="1" spc="-60" kern="0" dirty="0">
                <a:solidFill>
                  <a:srgbClr val="3826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/</a:t>
            </a:r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E9E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v0.4 PREVIEW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WIDGET CATALOG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Twelve widgets. </a:t>
            </a:r>
            <a:pPr indent="0" marL="0">
              <a:buNone/>
            </a:pPr>
            <a:r>
              <a:rPr lang="en-US" sz="4000" b="1" i="1" spc="-100" kern="0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</a:t>
            </a:r>
            <a:pPr indent="0" marL="0">
              <a:buNone/>
            </a:pPr>
            <a:r>
              <a:rPr lang="en-US" sz="4000" b="1" spc="-1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contract.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1277295" cy="0"/>
          </a:xfrm>
          <a:prstGeom prst="line">
            <a:avLst/>
          </a:prstGeom>
          <a:noFill/>
          <a:ln w="6350">
            <a:solidFill>
              <a:srgbClr val="DCDA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 · DERIVED FROM INTEGRATIONS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74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MANUAL · USER-LOGGED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180334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703320"/>
            <a:ext cx="1474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Merged count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4114800"/>
            <a:ext cx="14741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PRs merged in window + 8w trend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51989" y="3520440"/>
            <a:ext cx="180334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6581" y="3703320"/>
            <a:ext cx="1474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Review rounds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6581" y="4114800"/>
            <a:ext cx="14741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Avg comments per merged MR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46778" y="3520440"/>
            <a:ext cx="180334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1370" y="3703320"/>
            <a:ext cx="1474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Turnaround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11370" y="4114800"/>
            <a:ext cx="14741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Open → merge histogram + median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41568" y="3520440"/>
            <a:ext cx="180334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6160" y="3703320"/>
            <a:ext cx="1474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Jira linkage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6160" y="4114800"/>
            <a:ext cx="14741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% MRs referencing a ticket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36357" y="3520440"/>
            <a:ext cx="180334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00949" y="3703320"/>
            <a:ext cx="1474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Ticket cycle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00949" y="4114800"/>
            <a:ext cx="14741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Cycle time across statuses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31146" y="3520440"/>
            <a:ext cx="1803349" cy="1417320"/>
          </a:xfrm>
          <a:prstGeom prst="rect">
            <a:avLst/>
          </a:prstGeom>
          <a:solidFill>
            <a:srgbClr val="3826FF"/>
          </a:solidFill>
          <a:ln w="9525">
            <a:solidFill>
              <a:srgbClr val="382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95738" y="3703320"/>
            <a:ext cx="1474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Code rubric 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95738" y="4114800"/>
            <a:ext cx="14741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6D2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grades each PR vs your rubric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394960"/>
            <a:ext cx="180334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5577840"/>
            <a:ext cx="1474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Counter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" y="5989320"/>
            <a:ext cx="14741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+1 / -1 with weekly tally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51989" y="5394960"/>
            <a:ext cx="180334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6581" y="5577840"/>
            <a:ext cx="1474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1–5 scale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516581" y="5989320"/>
            <a:ext cx="14741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Self-rate with sparkline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46778" y="5394960"/>
            <a:ext cx="180334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11370" y="5577840"/>
            <a:ext cx="1474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Milestone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411370" y="5989320"/>
            <a:ext cx="14741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Checklist + progress 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41568" y="5394960"/>
            <a:ext cx="180334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6160" y="5577840"/>
            <a:ext cx="1474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Date log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06160" y="5989320"/>
            <a:ext cx="14741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Dated events with notes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36357" y="5394960"/>
            <a:ext cx="180334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00949" y="5577840"/>
            <a:ext cx="1474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Journal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00949" y="5989320"/>
            <a:ext cx="14741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Free-text per-day entries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931146" y="5394960"/>
            <a:ext cx="180334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95738" y="5577840"/>
            <a:ext cx="1474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Before/after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095738" y="5989320"/>
            <a:ext cx="14741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Baseline vs. current delta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pPr algn="r" indent="0" marL="0">
              <a:buNone/>
            </a:pPr>
            <a:r>
              <a:rPr lang="en-US" sz="9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eSpace</a:t>
            </a:r>
            <a:pPr indent="0" marL="0">
              <a:buNone/>
            </a:pPr>
            <a:r>
              <a:rPr lang="en-US" sz="1300" b="1" spc="-60" kern="0" dirty="0">
                <a:solidFill>
                  <a:srgbClr val="3826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/</a:t>
            </a:r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E9E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v0.4 PREVIEW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CODE-RUBRIC GRADING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 define </a:t>
            </a:r>
            <a:pPr indent="0" marL="0">
              <a:buNone/>
            </a:pPr>
            <a:r>
              <a:rPr lang="en-US" sz="3800" b="1" i="1" spc="-100" kern="0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</a:t>
            </a:r>
            <a:pPr indent="0" marL="0">
              <a:buNone/>
            </a:pPr>
            <a:r>
              <a:rPr lang="en-US" sz="3800" b="1" spc="-1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 The AI grades the receipts.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1277295" cy="0"/>
          </a:xfrm>
          <a:prstGeom prst="line">
            <a:avLst/>
          </a:prstGeom>
          <a:noFill/>
          <a:ln w="6350">
            <a:solidFill>
              <a:srgbClr val="DCDA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291840"/>
            <a:ext cx="51206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91840"/>
            <a:ext cx="36576" cy="3108960"/>
          </a:xfrm>
          <a:prstGeom prst="rect">
            <a:avLst/>
          </a:prstGeom>
          <a:solidFill>
            <a:srgbClr val="3826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RUBRIC · YOUR CRITERIA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Define before tracking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4434840"/>
            <a:ext cx="4572000" cy="310896"/>
          </a:xfrm>
          <a:prstGeom prst="rect">
            <a:avLst/>
          </a:prstGeom>
          <a:solidFill>
            <a:srgbClr val="FAF8F2"/>
          </a:solidFill>
          <a:ln w="6350">
            <a:solidFill>
              <a:srgbClr val="DCDA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348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 No styling issues raised by reviewers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818888"/>
            <a:ext cx="4572000" cy="310896"/>
          </a:xfrm>
          <a:prstGeom prst="rect">
            <a:avLst/>
          </a:prstGeom>
          <a:solidFill>
            <a:srgbClr val="FAF8F2"/>
          </a:solidFill>
          <a:ln w="6350">
            <a:solidFill>
              <a:srgbClr val="DCDA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188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 All reviewer concerns addressed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5202936"/>
            <a:ext cx="4572000" cy="310896"/>
          </a:xfrm>
          <a:prstGeom prst="rect">
            <a:avLst/>
          </a:prstGeom>
          <a:solidFill>
            <a:srgbClr val="FAF8F2"/>
          </a:solidFill>
          <a:ln w="6350">
            <a:solidFill>
              <a:srgbClr val="DCDA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2029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 CI checks green at merge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586984"/>
            <a:ext cx="4572000" cy="310896"/>
          </a:xfrm>
          <a:prstGeom prst="rect">
            <a:avLst/>
          </a:prstGeom>
          <a:solidFill>
            <a:srgbClr val="FAF8F2"/>
          </a:solidFill>
          <a:ln w="6350">
            <a:solidFill>
              <a:srgbClr val="DCDA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5869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  PR body explains the why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3291840"/>
            <a:ext cx="579089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520440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RUBRIC · YTD · 14 OF 18 PASSING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4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78%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76352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 RATE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4572000"/>
            <a:ext cx="5242255" cy="91440"/>
          </a:xfrm>
          <a:prstGeom prst="rect">
            <a:avLst/>
          </a:prstGeom>
          <a:solidFill>
            <a:srgbClr val="DCDACF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4572000"/>
            <a:ext cx="4088959" cy="91440"/>
          </a:xfrm>
          <a:prstGeom prst="rect">
            <a:avLst/>
          </a:prstGeom>
          <a:solidFill>
            <a:srgbClr val="3826F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4846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#13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484632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Audit logging for privileged actions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728655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00C4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PASS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5212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#11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521208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Rate limiting on public API routes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728655" y="5212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 FAIL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5577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557784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Off-by-one on reports pagination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728655" y="5577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00C4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PASS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5943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12280" y="594360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Settlement worker → RetryPolicy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728655" y="5943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00C4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PASS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pPr algn="r" indent="0" marL="0">
              <a:buNone/>
            </a:pPr>
            <a:r>
              <a:rPr lang="en-US" sz="9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eSpace</a:t>
            </a:r>
            <a:pPr indent="0" marL="0">
              <a:buNone/>
            </a:pPr>
            <a:r>
              <a:rPr lang="en-US" sz="1300" b="1" spc="-60" kern="0" dirty="0">
                <a:solidFill>
                  <a:srgbClr val="3826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/</a:t>
            </a:r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E9E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v0.4 PREVIEW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WHEN TRACKING NEEDS A HUMAN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Two </a:t>
            </a:r>
            <a:pPr indent="0" marL="0">
              <a:buNone/>
            </a:pPr>
            <a:r>
              <a:rPr lang="en-US" sz="4000" b="1" i="1" spc="-100" kern="0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escape hatches</a:t>
            </a:r>
            <a:pPr indent="0" marL="0">
              <a:buNone/>
            </a:pPr>
            <a:r>
              <a:rPr lang="en-US" sz="4000" b="1" spc="-1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for messy goals.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1277295" cy="0"/>
          </a:xfrm>
          <a:prstGeom prst="line">
            <a:avLst/>
          </a:prstGeom>
          <a:noFill/>
          <a:ln w="6350">
            <a:solidFill>
              <a:srgbClr val="DCDA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291840"/>
            <a:ext cx="545576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91840"/>
            <a:ext cx="36576" cy="3108960"/>
          </a:xfrm>
          <a:prstGeom prst="rect">
            <a:avLst/>
          </a:prstGeom>
          <a:solidFill>
            <a:srgbClr val="3826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2044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Define before tracking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490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When a goal references team-specific concepts ('agreed quality standards', 'success criteria'), the AI emits a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B0B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context.questions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block. The user fills it in once; the widget activates only after.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5486400"/>
            <a:ext cx="4907128" cy="640080"/>
          </a:xfrm>
          <a:prstGeom prst="rect">
            <a:avLst/>
          </a:prstGeom>
          <a:solidFill>
            <a:srgbClr val="FAF8F2"/>
          </a:solidFill>
          <a:ln w="6350">
            <a:solidFill>
              <a:srgbClr val="DCDA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57784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 · QUALITY-STANDARDS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68680" y="580644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List your team's agreed quality standards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8728" y="3291840"/>
            <a:ext cx="545576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3048" y="352044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Delegated to a senior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53048" y="4160520"/>
            <a:ext cx="490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When the goal is judged by a manager (succession readiness, quarterly review), the AI emits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B0B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delegated: { judge: 'manager' }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 User sees a calm 'judged by …' card — no demand to self-track.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53048" y="5486400"/>
            <a:ext cx="4907128" cy="640080"/>
          </a:xfrm>
          <a:prstGeom prst="rect">
            <a:avLst/>
          </a:prstGeom>
          <a:solidFill>
            <a:srgbClr val="3826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90208" y="557784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B8B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DELEGATED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90208" y="580644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manager evaluates this goal — no self-tracking required.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pPr algn="r" indent="0" marL="0">
              <a:buNone/>
            </a:pPr>
            <a:r>
              <a:rPr lang="en-US" sz="9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eSpace</a:t>
            </a:r>
            <a:pPr indent="0" marL="0">
              <a:buNone/>
            </a:pPr>
            <a:r>
              <a:rPr lang="en-US" sz="1300" b="1" spc="-60" kern="0" dirty="0">
                <a:solidFill>
                  <a:srgbClr val="3826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/</a:t>
            </a:r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E9E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v0.4 PREVIEW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EVIDENCE EXPORT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Bundle </a:t>
            </a:r>
            <a:pPr indent="0" marL="0">
              <a:buNone/>
            </a:pPr>
            <a:r>
              <a:rPr lang="en-US" sz="4000" b="1" i="1" spc="-100" kern="0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receipts</a:t>
            </a:r>
            <a:pPr indent="0" marL="0">
              <a:buNone/>
            </a:pPr>
            <a:r>
              <a:rPr lang="en-US" sz="4000" b="1" spc="-1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for 1:1s and promo packets.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1277295" cy="0"/>
          </a:xfrm>
          <a:prstGeom prst="line">
            <a:avLst/>
          </a:prstGeom>
          <a:noFill/>
          <a:ln w="6350">
            <a:solidFill>
              <a:srgbClr val="DCDA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291840"/>
            <a:ext cx="5029200" cy="3108960"/>
          </a:xfrm>
          <a:prstGeom prst="rect">
            <a:avLst/>
          </a:prstGeom>
          <a:solidFill>
            <a:srgbClr val="3826FF"/>
          </a:solidFill>
          <a:ln w="6350">
            <a:solidFill>
              <a:srgbClr val="382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0016" y="5175504"/>
            <a:ext cx="41148" cy="41148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5175504"/>
            <a:ext cx="41148" cy="4114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92624" y="5175504"/>
            <a:ext cx="41148" cy="41148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53712" y="5321808"/>
            <a:ext cx="41148" cy="4114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700016" y="5321808"/>
            <a:ext cx="41148" cy="4114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5321808"/>
            <a:ext cx="41148" cy="41148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992624" y="5321808"/>
            <a:ext cx="41148" cy="4114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38928" y="5321808"/>
            <a:ext cx="41148" cy="4114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07408" y="5468112"/>
            <a:ext cx="41148" cy="4114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53712" y="5468112"/>
            <a:ext cx="41148" cy="41148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700016" y="5468112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846320" y="5468112"/>
            <a:ext cx="41148" cy="41148"/>
          </a:xfrm>
          <a:prstGeom prst="ellipse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992624" y="5468112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138928" y="5468112"/>
            <a:ext cx="41148" cy="41148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285232" y="5468112"/>
            <a:ext cx="41148" cy="4114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261104" y="5614416"/>
            <a:ext cx="41148" cy="41148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407408" y="5614416"/>
            <a:ext cx="41148" cy="4114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53712" y="5614416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00016" y="5614416"/>
            <a:ext cx="41148" cy="41148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5614416"/>
            <a:ext cx="41148" cy="41148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992624" y="5614416"/>
            <a:ext cx="41148" cy="41148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138928" y="5614416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285232" y="5614416"/>
            <a:ext cx="41148" cy="4114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431536" y="5614416"/>
            <a:ext cx="41148" cy="41148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261104" y="5760720"/>
            <a:ext cx="41148" cy="4114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407408" y="5760720"/>
            <a:ext cx="41148" cy="41148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53712" y="5760720"/>
            <a:ext cx="41148" cy="41148"/>
          </a:xfrm>
          <a:prstGeom prst="ellipse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700016" y="5760720"/>
            <a:ext cx="41148" cy="41148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46320" y="5760720"/>
            <a:ext cx="41148" cy="41148"/>
          </a:xfrm>
          <a:prstGeom prst="ellipse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92624" y="5760720"/>
            <a:ext cx="41148" cy="41148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38928" y="5760720"/>
            <a:ext cx="41148" cy="41148"/>
          </a:xfrm>
          <a:prstGeom prst="ellipse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85232" y="5760720"/>
            <a:ext cx="41148" cy="41148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31536" y="5760720"/>
            <a:ext cx="41148" cy="4114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261104" y="5907024"/>
            <a:ext cx="41148" cy="41148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407408" y="5907024"/>
            <a:ext cx="41148" cy="4114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53712" y="5907024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00016" y="5907024"/>
            <a:ext cx="41148" cy="41148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46320" y="5907024"/>
            <a:ext cx="41148" cy="41148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992624" y="5907024"/>
            <a:ext cx="41148" cy="41148"/>
          </a:xfrm>
          <a:prstGeom prst="ellipse">
            <a:avLst/>
          </a:prstGeom>
          <a:solidFill>
            <a:srgbClr val="FFFFFF">
              <a:alpha val="39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138928" y="5907024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285232" y="5907024"/>
            <a:ext cx="41148" cy="4114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431536" y="5907024"/>
            <a:ext cx="41148" cy="41148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407408" y="6053328"/>
            <a:ext cx="41148" cy="4114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553712" y="6053328"/>
            <a:ext cx="41148" cy="41148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700016" y="6053328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846320" y="6053328"/>
            <a:ext cx="41148" cy="41148"/>
          </a:xfrm>
          <a:prstGeom prst="ellipse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992624" y="6053328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138928" y="6053328"/>
            <a:ext cx="41148" cy="41148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285232" y="6053328"/>
            <a:ext cx="41148" cy="4114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553712" y="6199632"/>
            <a:ext cx="41148" cy="4114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4700016" y="6199632"/>
            <a:ext cx="41148" cy="4114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4846320" y="6199632"/>
            <a:ext cx="41148" cy="41148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992624" y="6199632"/>
            <a:ext cx="41148" cy="4114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138928" y="6199632"/>
            <a:ext cx="41148" cy="4114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700016" y="6345936"/>
            <a:ext cx="41148" cy="41148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846320" y="6345936"/>
            <a:ext cx="41148" cy="4114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4992624" y="6345936"/>
            <a:ext cx="41148" cy="41148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777240" y="3566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B8B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EVIDENCE · 90D BUNDLE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77240" y="38862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7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Bundle last 90d as markdown + PDF.</a:t>
            </a:r>
            <a:endParaRPr lang="en-US" sz="2800" dirty="0"/>
          </a:p>
        </p:txBody>
      </p:sp>
      <p:sp>
        <p:nvSpPr>
          <p:cNvPr id="67" name="Text 65"/>
          <p:cNvSpPr/>
          <p:nvPr/>
        </p:nvSpPr>
        <p:spPr>
          <a:xfrm>
            <a:off x="777240" y="5166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A9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TICKETS · MRS · REVIEWS · SLA · ON-CALL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77240" y="5623560"/>
            <a:ext cx="13258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777240" y="56235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EXPORT .MD ↓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240280" y="5623560"/>
            <a:ext cx="13258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2240280" y="56235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EXPORT .PDF ↓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852160" y="3291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20" kern="0" dirty="0">
                <a:solidFill>
                  <a:srgbClr val="3826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30s</a:t>
            </a:r>
            <a:endParaRPr lang="en-US" sz="3200" dirty="0"/>
          </a:p>
        </p:txBody>
      </p:sp>
      <p:sp>
        <p:nvSpPr>
          <p:cNvPr id="73" name="Text 71"/>
          <p:cNvSpPr/>
          <p:nvPr/>
        </p:nvSpPr>
        <p:spPr>
          <a:xfrm>
            <a:off x="7132320" y="338328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Click .md → file downloads. No backend roundtrip.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852160" y="4069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20" kern="0" dirty="0">
                <a:solidFill>
                  <a:srgbClr val="3826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auto</a:t>
            </a:r>
            <a:endParaRPr lang="en-US" sz="3200" dirty="0"/>
          </a:p>
        </p:txBody>
      </p:sp>
      <p:sp>
        <p:nvSpPr>
          <p:cNvPr id="75" name="Text 73"/>
          <p:cNvSpPr/>
          <p:nvPr/>
        </p:nvSpPr>
        <p:spPr>
          <a:xfrm>
            <a:off x="7132320" y="416052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Pulls 90d merged PRs, reviews, Jira tickets, headline metrics.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5852160" y="4846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20" kern="0" dirty="0">
                <a:solidFill>
                  <a:srgbClr val="3826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print</a:t>
            </a:r>
            <a:endParaRPr lang="en-US" sz="3200" dirty="0"/>
          </a:p>
        </p:txBody>
      </p:sp>
      <p:sp>
        <p:nvSpPr>
          <p:cNvPr id="77" name="Text 75"/>
          <p:cNvSpPr/>
          <p:nvPr/>
        </p:nvSpPr>
        <p:spPr>
          <a:xfrm>
            <a:off x="7132320" y="493776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.pdf opens the print-styled evidence page; browser prints to PDF.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5852160" y="5623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20" kern="0" dirty="0">
                <a:solidFill>
                  <a:srgbClr val="3826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starred</a:t>
            </a:r>
            <a:endParaRPr lang="en-US" sz="3200" dirty="0"/>
          </a:p>
        </p:txBody>
      </p:sp>
      <p:sp>
        <p:nvSpPr>
          <p:cNvPr id="79" name="Text 77"/>
          <p:cNvSpPr/>
          <p:nvPr/>
        </p:nvSpPr>
        <p:spPr>
          <a:xfrm>
            <a:off x="7132320" y="571500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Items the user starred in the Evidence picker land first.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pPr algn="r" indent="0" marL="0">
              <a:buNone/>
            </a:pPr>
            <a:r>
              <a:rPr lang="en-US" sz="9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eSpace</a:t>
            </a:r>
            <a:pPr indent="0" marL="0">
              <a:buNone/>
            </a:pPr>
            <a:r>
              <a:rPr lang="en-US" sz="1300" b="1" spc="-60" kern="0" dirty="0">
                <a:solidFill>
                  <a:srgbClr val="3826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/</a:t>
            </a:r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E9E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v0.4 PREVIEW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Layered, </a:t>
            </a:r>
            <a:pPr indent="0" marL="0">
              <a:buNone/>
            </a:pPr>
            <a:r>
              <a:rPr lang="en-US" sz="4000" b="1" i="1" spc="-100" kern="0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</a:t>
            </a:r>
            <a:pPr indent="0" marL="0">
              <a:buNone/>
            </a:pPr>
            <a:r>
              <a:rPr lang="en-US" sz="4000" b="1" spc="-1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, scale-ready.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1277295" cy="0"/>
          </a:xfrm>
          <a:prstGeom prst="line">
            <a:avLst/>
          </a:prstGeom>
          <a:noFill/>
          <a:ln w="6350">
            <a:solidFill>
              <a:srgbClr val="DCDA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291840"/>
            <a:ext cx="112772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918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Domain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3451860"/>
            <a:ext cx="548640" cy="246888"/>
          </a:xfrm>
          <a:prstGeom prst="rect">
            <a:avLst/>
          </a:prstGeom>
          <a:solidFill>
            <a:srgbClr val="FAF8F2"/>
          </a:solidFill>
          <a:ln w="6350">
            <a:solidFill>
              <a:srgbClr val="DCDA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345186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0" y="3291840"/>
            <a:ext cx="8076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Schemas + enums + validators. Zero React, zero fetch. Goal-specs / goal-inputs / goal-context shapes live here.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13632"/>
            <a:ext cx="112772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136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03120" y="4073652"/>
            <a:ext cx="548640" cy="246888"/>
          </a:xfrm>
          <a:prstGeom prst="rect">
            <a:avLst/>
          </a:prstGeom>
          <a:solidFill>
            <a:srgbClr val="FAF8F2"/>
          </a:solidFill>
          <a:ln w="6350">
            <a:solidFill>
              <a:srgbClr val="DCDA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407365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I/O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0" y="3913632"/>
            <a:ext cx="8076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localStorage stores, change events, Mistral classifier adapter, integration API clients. Swappable behind ports.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535424"/>
            <a:ext cx="112772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53542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103120" y="4695444"/>
            <a:ext cx="1120140" cy="246888"/>
          </a:xfrm>
          <a:prstGeom prst="rect">
            <a:avLst/>
          </a:prstGeom>
          <a:solidFill>
            <a:srgbClr val="FAF8F2"/>
          </a:solidFill>
          <a:ln w="6350">
            <a:solidFill>
              <a:srgbClr val="DCDA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4695444"/>
            <a:ext cx="11201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0" y="4535424"/>
            <a:ext cx="8076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API routes (/api/classify-goals, /api/grade-pr), use-case hooks, NDJSON streams, concurrency caps.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157216"/>
            <a:ext cx="112772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15721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103120" y="5317236"/>
            <a:ext cx="1051560" cy="246888"/>
          </a:xfrm>
          <a:prstGeom prst="rect">
            <a:avLst/>
          </a:prstGeom>
          <a:solidFill>
            <a:srgbClr val="FAF8F2"/>
          </a:solidFill>
          <a:ln w="6350">
            <a:solidFill>
              <a:srgbClr val="DCDA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5317236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0" y="5157216"/>
            <a:ext cx="8076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Widget registry (Map&lt;kind, Component&gt;), state-shell decision tree, error boundaries per widget. Adding a 13th widget = 1 line.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779008"/>
            <a:ext cx="112772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7790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Page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103120" y="5939028"/>
            <a:ext cx="982980" cy="246888"/>
          </a:xfrm>
          <a:prstGeom prst="rect">
            <a:avLst/>
          </a:prstGeom>
          <a:solidFill>
            <a:srgbClr val="FAF8F2"/>
          </a:solidFill>
          <a:ln w="6350">
            <a:solidFill>
              <a:srgbClr val="DCDA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5939028"/>
            <a:ext cx="9829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COMPOSITION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0" y="5779008"/>
            <a:ext cx="8076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Scroll shell, analyst page, dashboard sections. AppShell hosts both views; one swipe transition wires them together.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pPr algn="r" indent="0" marL="0">
              <a:buNone/>
            </a:pPr>
            <a:r>
              <a:rPr lang="en-US" sz="9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eSpace</a:t>
            </a:r>
            <a:pPr indent="0" marL="0">
              <a:buNone/>
            </a:pPr>
            <a:r>
              <a:rPr lang="en-US" sz="1300" b="1" spc="-60" kern="0" dirty="0">
                <a:solidFill>
                  <a:srgbClr val="3826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/</a:t>
            </a:r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E9E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v0.4 PREVIEW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WHAT'S LIVE TODAY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Shipped, </a:t>
            </a:r>
            <a:pPr indent="0" marL="0">
              <a:buNone/>
            </a:pPr>
            <a:r>
              <a:rPr lang="en-US" sz="4000" b="1" i="1" spc="-100" kern="0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trying</a:t>
            </a:r>
            <a:pPr indent="0" marL="0">
              <a:buNone/>
            </a:pPr>
            <a:r>
              <a:rPr lang="en-US" sz="4000" b="1" spc="-1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, and on the runway.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1277295" cy="0"/>
          </a:xfrm>
          <a:prstGeom prst="line">
            <a:avLst/>
          </a:prstGeom>
          <a:noFill/>
          <a:ln w="6350">
            <a:solidFill>
              <a:srgbClr val="DCDA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246120"/>
            <a:ext cx="363717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474720"/>
            <a:ext cx="708660" cy="246888"/>
          </a:xfrm>
          <a:prstGeom prst="rect">
            <a:avLst/>
          </a:prstGeom>
          <a:solidFill>
            <a:srgbClr val="E0F5EE"/>
          </a:solidFill>
          <a:ln w="6350">
            <a:solidFill>
              <a:srgbClr val="E0F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474720"/>
            <a:ext cx="7086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SHIPPED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4050792"/>
            <a:ext cx="64008" cy="64008"/>
          </a:xfrm>
          <a:prstGeom prst="ellipse">
            <a:avLst/>
          </a:prstGeom>
          <a:solidFill>
            <a:srgbClr val="00C48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31920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5-section scroll-snap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379976"/>
            <a:ext cx="64008" cy="64008"/>
          </a:xfrm>
          <a:prstGeom prst="ellipse">
            <a:avLst/>
          </a:prstGeom>
          <a:solidFill>
            <a:srgbClr val="00C48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61104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Jira + GitLab + GitHub integrations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709160"/>
            <a:ext cx="64008" cy="64008"/>
          </a:xfrm>
          <a:prstGeom prst="ellipse">
            <a:avLst/>
          </a:prstGeom>
          <a:solidFill>
            <a:srgbClr val="00C48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590288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12-widget registry (10 polished, 2 stubbed)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5038344"/>
            <a:ext cx="64008" cy="64008"/>
          </a:xfrm>
          <a:prstGeom prst="ellipse">
            <a:avLst/>
          </a:prstGeom>
          <a:solidFill>
            <a:srgbClr val="00C48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919472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Analyst with NDJSON streaming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5367528"/>
            <a:ext cx="64008" cy="64008"/>
          </a:xfrm>
          <a:prstGeom prst="ellipse">
            <a:avLst/>
          </a:prstGeom>
          <a:solidFill>
            <a:srgbClr val="00C48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248656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Code-rubric grading w/ per-PR cache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696712"/>
            <a:ext cx="64008" cy="64008"/>
          </a:xfrm>
          <a:prstGeom prst="ellipse">
            <a:avLst/>
          </a:prstGeom>
          <a:solidFill>
            <a:srgbClr val="00C48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577840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Goal context + delegation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6025896"/>
            <a:ext cx="64008" cy="64008"/>
          </a:xfrm>
          <a:prstGeom prst="ellipse">
            <a:avLst/>
          </a:prstGeom>
          <a:solidFill>
            <a:srgbClr val="00C48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907024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Evidence export (.md + print-PDF)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77258" y="3246120"/>
            <a:ext cx="363717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5858" y="3474720"/>
            <a:ext cx="845820" cy="246888"/>
          </a:xfrm>
          <a:prstGeom prst="rect">
            <a:avLst/>
          </a:prstGeom>
          <a:solidFill>
            <a:srgbClr val="DDD9FF"/>
          </a:solidFill>
          <a:ln w="6350">
            <a:solidFill>
              <a:srgbClr val="DDD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5858" y="3474720"/>
            <a:ext cx="8458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ITERATING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51578" y="4050792"/>
            <a:ext cx="64008" cy="64008"/>
          </a:xfrm>
          <a:prstGeom prst="ellipse">
            <a:avLst/>
          </a:prstGeom>
          <a:solidFill>
            <a:srgbClr val="3826FF"/>
          </a:solidFill>
          <a:ln/>
        </p:spPr>
      </p:sp>
      <p:sp>
        <p:nvSpPr>
          <p:cNvPr id="28" name="Text 26"/>
          <p:cNvSpPr/>
          <p:nvPr/>
        </p:nvSpPr>
        <p:spPr>
          <a:xfrm>
            <a:off x="4734458" y="3931920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Schema v2 — rich L1/L2 fields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51578" y="4379976"/>
            <a:ext cx="64008" cy="64008"/>
          </a:xfrm>
          <a:prstGeom prst="ellipse">
            <a:avLst/>
          </a:prstGeom>
          <a:solidFill>
            <a:srgbClr val="3826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34458" y="4261104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Classifier prompt tuning per cadence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51578" y="4709160"/>
            <a:ext cx="64008" cy="64008"/>
          </a:xfrm>
          <a:prstGeom prst="ellipse">
            <a:avLst/>
          </a:prstGeom>
          <a:solidFill>
            <a:srgbClr val="3826FF"/>
          </a:solidFill>
          <a:ln/>
        </p:spPr>
      </p:sp>
      <p:sp>
        <p:nvSpPr>
          <p:cNvPr id="32" name="Text 30"/>
          <p:cNvSpPr/>
          <p:nvPr/>
        </p:nvSpPr>
        <p:spPr>
          <a:xfrm>
            <a:off x="4734458" y="4590288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GitHub rate-limit recovery UX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51578" y="5038344"/>
            <a:ext cx="64008" cy="64008"/>
          </a:xfrm>
          <a:prstGeom prst="ellipse">
            <a:avLst/>
          </a:prstGeom>
          <a:solidFill>
            <a:srgbClr val="3826FF"/>
          </a:solidFill>
          <a:ln/>
        </p:spPr>
      </p:sp>
      <p:sp>
        <p:nvSpPr>
          <p:cNvPr id="34" name="Text 32"/>
          <p:cNvSpPr/>
          <p:nvPr/>
        </p:nvSpPr>
        <p:spPr>
          <a:xfrm>
            <a:off x="4734458" y="4919472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Grading verdict cache invalidation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97317" y="3246120"/>
            <a:ext cx="363717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C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5917" y="3474720"/>
            <a:ext cx="548640" cy="246888"/>
          </a:xfrm>
          <a:prstGeom prst="rect">
            <a:avLst/>
          </a:prstGeom>
          <a:solidFill>
            <a:srgbClr val="FAF8F2"/>
          </a:solidFill>
          <a:ln w="6350">
            <a:solidFill>
              <a:srgbClr val="DCDA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5917" y="347472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371637" y="4050792"/>
            <a:ext cx="64008" cy="64008"/>
          </a:xfrm>
          <a:prstGeom prst="ellipse">
            <a:avLst/>
          </a:prstGeom>
          <a:solidFill>
            <a:srgbClr val="9E9EA4"/>
          </a:solidFill>
          <a:ln/>
        </p:spPr>
      </p:sp>
      <p:sp>
        <p:nvSpPr>
          <p:cNvPr id="39" name="Text 37"/>
          <p:cNvSpPr/>
          <p:nvPr/>
        </p:nvSpPr>
        <p:spPr>
          <a:xfrm>
            <a:off x="8554517" y="3931920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Ticket-cycle widget (Jira changelog)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71637" y="4379976"/>
            <a:ext cx="64008" cy="64008"/>
          </a:xfrm>
          <a:prstGeom prst="ellipse">
            <a:avLst/>
          </a:prstGeom>
          <a:solidFill>
            <a:srgbClr val="9E9EA4"/>
          </a:solidFill>
          <a:ln/>
        </p:spPr>
      </p:sp>
      <p:sp>
        <p:nvSpPr>
          <p:cNvPr id="41" name="Text 39"/>
          <p:cNvSpPr/>
          <p:nvPr/>
        </p:nvSpPr>
        <p:spPr>
          <a:xfrm>
            <a:off x="8554517" y="4261104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Streaming reasoning UI per widget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371637" y="4709160"/>
            <a:ext cx="64008" cy="64008"/>
          </a:xfrm>
          <a:prstGeom prst="ellipse">
            <a:avLst/>
          </a:prstGeom>
          <a:solidFill>
            <a:srgbClr val="9E9EA4"/>
          </a:solidFill>
          <a:ln/>
        </p:spPr>
      </p:sp>
      <p:sp>
        <p:nvSpPr>
          <p:cNvPr id="43" name="Text 41"/>
          <p:cNvSpPr/>
          <p:nvPr/>
        </p:nvSpPr>
        <p:spPr>
          <a:xfrm>
            <a:off x="8554517" y="4590288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Multi-user accounts (today: localStorage)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371637" y="5038344"/>
            <a:ext cx="64008" cy="64008"/>
          </a:xfrm>
          <a:prstGeom prst="ellipse">
            <a:avLst/>
          </a:prstGeom>
          <a:solidFill>
            <a:srgbClr val="9E9EA4"/>
          </a:solidFill>
          <a:ln/>
        </p:spPr>
      </p:sp>
      <p:sp>
        <p:nvSpPr>
          <p:cNvPr id="45" name="Text 43"/>
          <p:cNvSpPr/>
          <p:nvPr/>
        </p:nvSpPr>
        <p:spPr>
          <a:xfrm>
            <a:off x="8554517" y="4919472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Slack digest of weekly snapshots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371637" y="5367528"/>
            <a:ext cx="64008" cy="64008"/>
          </a:xfrm>
          <a:prstGeom prst="ellipse">
            <a:avLst/>
          </a:prstGeom>
          <a:solidFill>
            <a:srgbClr val="9E9EA4"/>
          </a:solidFill>
          <a:ln/>
        </p:spPr>
      </p:sp>
      <p:sp>
        <p:nvSpPr>
          <p:cNvPr id="47" name="Text 45"/>
          <p:cNvSpPr/>
          <p:nvPr/>
        </p:nvSpPr>
        <p:spPr>
          <a:xfrm>
            <a:off x="8554517" y="5248656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Custom widgets via plug-in registry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pPr algn="r" indent="0" marL="0">
              <a:buNone/>
            </a:pPr>
            <a:r>
              <a:rPr lang="en-US" sz="9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eSpace</a:t>
            </a:r>
            <a:pPr indent="0" marL="0">
              <a:buNone/>
            </a:pPr>
            <a:r>
              <a:rPr lang="en-US" sz="1300" b="1" spc="-60" kern="0" dirty="0">
                <a:solidFill>
                  <a:srgbClr val="3826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/</a:t>
            </a:r>
            <a:pPr indent="0" marL="0">
              <a:buNone/>
            </a:pPr>
            <a:r>
              <a:rPr lang="en-US" sz="1300" b="1" spc="-6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E9E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v0.4 PREVIEW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216591" y="4443984"/>
            <a:ext cx="41148" cy="41148"/>
          </a:xfrm>
          <a:prstGeom prst="ellipse">
            <a:avLst/>
          </a:prstGeom>
          <a:solidFill>
            <a:srgbClr val="3826FF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62895" y="4443984"/>
            <a:ext cx="41148" cy="41148"/>
          </a:xfrm>
          <a:prstGeom prst="ellipse">
            <a:avLst/>
          </a:prstGeom>
          <a:solidFill>
            <a:srgbClr val="3826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09199" y="4443984"/>
            <a:ext cx="41148" cy="41148"/>
          </a:xfrm>
          <a:prstGeom prst="ellipse">
            <a:avLst/>
          </a:prstGeom>
          <a:solidFill>
            <a:srgbClr val="3826FF">
              <a:alpha val="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70287" y="4590288"/>
            <a:ext cx="41148" cy="41148"/>
          </a:xfrm>
          <a:prstGeom prst="ellipse">
            <a:avLst/>
          </a:prstGeom>
          <a:solidFill>
            <a:srgbClr val="3826FF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16591" y="4590288"/>
            <a:ext cx="41148" cy="41148"/>
          </a:xfrm>
          <a:prstGeom prst="ellipse">
            <a:avLst/>
          </a:prstGeom>
          <a:solidFill>
            <a:srgbClr val="3826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362895" y="4590288"/>
            <a:ext cx="41148" cy="41148"/>
          </a:xfrm>
          <a:prstGeom prst="ellipse">
            <a:avLst/>
          </a:prstGeom>
          <a:solidFill>
            <a:srgbClr val="3826FF">
              <a:alpha val="21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09199" y="4590288"/>
            <a:ext cx="41148" cy="41148"/>
          </a:xfrm>
          <a:prstGeom prst="ellipse">
            <a:avLst/>
          </a:prstGeom>
          <a:solidFill>
            <a:srgbClr val="3826FF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655503" y="4590288"/>
            <a:ext cx="41148" cy="41148"/>
          </a:xfrm>
          <a:prstGeom prst="ellipse">
            <a:avLst/>
          </a:prstGeom>
          <a:solidFill>
            <a:srgbClr val="3826FF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923983" y="4736592"/>
            <a:ext cx="41148" cy="41148"/>
          </a:xfrm>
          <a:prstGeom prst="ellipse">
            <a:avLst/>
          </a:prstGeom>
          <a:solidFill>
            <a:srgbClr val="3826FF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070287" y="4736592"/>
            <a:ext cx="41148" cy="41148"/>
          </a:xfrm>
          <a:prstGeom prst="ellipse">
            <a:avLst/>
          </a:prstGeom>
          <a:solidFill>
            <a:srgbClr val="3826FF">
              <a:alpha val="2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216591" y="4736592"/>
            <a:ext cx="41148" cy="41148"/>
          </a:xfrm>
          <a:prstGeom prst="ellipse">
            <a:avLst/>
          </a:prstGeom>
          <a:solidFill>
            <a:srgbClr val="3826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362895" y="4736592"/>
            <a:ext cx="41148" cy="41148"/>
          </a:xfrm>
          <a:prstGeom prst="ellipse">
            <a:avLst/>
          </a:prstGeom>
          <a:solidFill>
            <a:srgbClr val="3826FF">
              <a:alpha val="33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509199" y="4736592"/>
            <a:ext cx="41148" cy="41148"/>
          </a:xfrm>
          <a:prstGeom prst="ellipse">
            <a:avLst/>
          </a:prstGeom>
          <a:solidFill>
            <a:srgbClr val="3826FF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655503" y="4736592"/>
            <a:ext cx="41148" cy="41148"/>
          </a:xfrm>
          <a:prstGeom prst="ellipse">
            <a:avLst/>
          </a:prstGeom>
          <a:solidFill>
            <a:srgbClr val="3826FF">
              <a:alpha val="23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801807" y="4736592"/>
            <a:ext cx="41148" cy="41148"/>
          </a:xfrm>
          <a:prstGeom prst="ellipse">
            <a:avLst/>
          </a:prstGeom>
          <a:solidFill>
            <a:srgbClr val="3826FF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77679" y="4882896"/>
            <a:ext cx="41148" cy="41148"/>
          </a:xfrm>
          <a:prstGeom prst="ellipse">
            <a:avLst/>
          </a:prstGeom>
          <a:solidFill>
            <a:srgbClr val="3826FF">
              <a:alpha val="9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923983" y="4882896"/>
            <a:ext cx="41148" cy="41148"/>
          </a:xfrm>
          <a:prstGeom prst="ellipse">
            <a:avLst/>
          </a:prstGeom>
          <a:solidFill>
            <a:srgbClr val="3826FF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070287" y="4882896"/>
            <a:ext cx="41148" cy="41148"/>
          </a:xfrm>
          <a:prstGeom prst="ellipse">
            <a:avLst/>
          </a:prstGeom>
          <a:solidFill>
            <a:srgbClr val="3826FF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216591" y="4882896"/>
            <a:ext cx="41148" cy="41148"/>
          </a:xfrm>
          <a:prstGeom prst="ellipse">
            <a:avLst/>
          </a:prstGeom>
          <a:solidFill>
            <a:srgbClr val="3826FF">
              <a:alpha val="39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362895" y="4882896"/>
            <a:ext cx="41148" cy="41148"/>
          </a:xfrm>
          <a:prstGeom prst="ellipse">
            <a:avLst/>
          </a:prstGeom>
          <a:solidFill>
            <a:srgbClr val="3826FF">
              <a:alpha val="4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509199" y="4882896"/>
            <a:ext cx="41148" cy="41148"/>
          </a:xfrm>
          <a:prstGeom prst="ellipse">
            <a:avLst/>
          </a:prstGeom>
          <a:solidFill>
            <a:srgbClr val="3826FF">
              <a:alpha val="39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655503" y="4882896"/>
            <a:ext cx="41148" cy="41148"/>
          </a:xfrm>
          <a:prstGeom prst="ellipse">
            <a:avLst/>
          </a:prstGeom>
          <a:solidFill>
            <a:srgbClr val="3826FF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801807" y="4882896"/>
            <a:ext cx="41148" cy="41148"/>
          </a:xfrm>
          <a:prstGeom prst="ellipse">
            <a:avLst/>
          </a:prstGeom>
          <a:solidFill>
            <a:srgbClr val="3826F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948111" y="4882896"/>
            <a:ext cx="41148" cy="41148"/>
          </a:xfrm>
          <a:prstGeom prst="ellipse">
            <a:avLst/>
          </a:prstGeom>
          <a:solidFill>
            <a:srgbClr val="3826FF">
              <a:alpha val="9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777679" y="5029200"/>
            <a:ext cx="41148" cy="41148"/>
          </a:xfrm>
          <a:prstGeom prst="ellipse">
            <a:avLst/>
          </a:prstGeom>
          <a:solidFill>
            <a:srgbClr val="3826FF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923983" y="5029200"/>
            <a:ext cx="41148" cy="41148"/>
          </a:xfrm>
          <a:prstGeom prst="ellipse">
            <a:avLst/>
          </a:prstGeom>
          <a:solidFill>
            <a:srgbClr val="3826FF">
              <a:alpha val="21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070287" y="5029200"/>
            <a:ext cx="41148" cy="41148"/>
          </a:xfrm>
          <a:prstGeom prst="ellipse">
            <a:avLst/>
          </a:prstGeom>
          <a:solidFill>
            <a:srgbClr val="3826FF">
              <a:alpha val="3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16591" y="5029200"/>
            <a:ext cx="41148" cy="41148"/>
          </a:xfrm>
          <a:prstGeom prst="ellipse">
            <a:avLst/>
          </a:prstGeom>
          <a:solidFill>
            <a:srgbClr val="3826FF">
              <a:alpha val="4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362895" y="5029200"/>
            <a:ext cx="41148" cy="41148"/>
          </a:xfrm>
          <a:prstGeom prst="ellipse">
            <a:avLst/>
          </a:prstGeom>
          <a:solidFill>
            <a:srgbClr val="3826FF">
              <a:alpha val="5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509199" y="5029200"/>
            <a:ext cx="41148" cy="41148"/>
          </a:xfrm>
          <a:prstGeom prst="ellipse">
            <a:avLst/>
          </a:prstGeom>
          <a:solidFill>
            <a:srgbClr val="3826FF">
              <a:alpha val="4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655503" y="5029200"/>
            <a:ext cx="41148" cy="41148"/>
          </a:xfrm>
          <a:prstGeom prst="ellipse">
            <a:avLst/>
          </a:prstGeom>
          <a:solidFill>
            <a:srgbClr val="3826FF">
              <a:alpha val="33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801807" y="5029200"/>
            <a:ext cx="41148" cy="41148"/>
          </a:xfrm>
          <a:prstGeom prst="ellipse">
            <a:avLst/>
          </a:prstGeom>
          <a:solidFill>
            <a:srgbClr val="3826FF">
              <a:alpha val="21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948111" y="5029200"/>
            <a:ext cx="41148" cy="41148"/>
          </a:xfrm>
          <a:prstGeom prst="ellipse">
            <a:avLst/>
          </a:prstGeom>
          <a:solidFill>
            <a:srgbClr val="3826FF">
              <a:alpha val="1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777679" y="5175504"/>
            <a:ext cx="41148" cy="41148"/>
          </a:xfrm>
          <a:prstGeom prst="ellipse">
            <a:avLst/>
          </a:prstGeom>
          <a:solidFill>
            <a:srgbClr val="3826FF">
              <a:alpha val="9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923983" y="5175504"/>
            <a:ext cx="41148" cy="41148"/>
          </a:xfrm>
          <a:prstGeom prst="ellipse">
            <a:avLst/>
          </a:prstGeom>
          <a:solidFill>
            <a:srgbClr val="3826FF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070287" y="5175504"/>
            <a:ext cx="41148" cy="41148"/>
          </a:xfrm>
          <a:prstGeom prst="ellipse">
            <a:avLst/>
          </a:prstGeom>
          <a:solidFill>
            <a:srgbClr val="3826FF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216591" y="5175504"/>
            <a:ext cx="41148" cy="41148"/>
          </a:xfrm>
          <a:prstGeom prst="ellipse">
            <a:avLst/>
          </a:prstGeom>
          <a:solidFill>
            <a:srgbClr val="3826FF">
              <a:alpha val="39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362895" y="5175504"/>
            <a:ext cx="41148" cy="41148"/>
          </a:xfrm>
          <a:prstGeom prst="ellipse">
            <a:avLst/>
          </a:prstGeom>
          <a:solidFill>
            <a:srgbClr val="3826FF">
              <a:alpha val="4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509199" y="5175504"/>
            <a:ext cx="41148" cy="41148"/>
          </a:xfrm>
          <a:prstGeom prst="ellipse">
            <a:avLst/>
          </a:prstGeom>
          <a:solidFill>
            <a:srgbClr val="3826FF">
              <a:alpha val="39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655503" y="5175504"/>
            <a:ext cx="41148" cy="41148"/>
          </a:xfrm>
          <a:prstGeom prst="ellipse">
            <a:avLst/>
          </a:prstGeom>
          <a:solidFill>
            <a:srgbClr val="3826FF">
              <a:alpha val="3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801807" y="5175504"/>
            <a:ext cx="41148" cy="41148"/>
          </a:xfrm>
          <a:prstGeom prst="ellipse">
            <a:avLst/>
          </a:prstGeom>
          <a:solidFill>
            <a:srgbClr val="3826FF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948111" y="5175504"/>
            <a:ext cx="41148" cy="41148"/>
          </a:xfrm>
          <a:prstGeom prst="ellipse">
            <a:avLst/>
          </a:prstGeom>
          <a:solidFill>
            <a:srgbClr val="3826FF">
              <a:alpha val="9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923983" y="5321808"/>
            <a:ext cx="41148" cy="41148"/>
          </a:xfrm>
          <a:prstGeom prst="ellipse">
            <a:avLst/>
          </a:prstGeom>
          <a:solidFill>
            <a:srgbClr val="3826FF">
              <a:alpha val="1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070287" y="5321808"/>
            <a:ext cx="41148" cy="41148"/>
          </a:xfrm>
          <a:prstGeom prst="ellipse">
            <a:avLst/>
          </a:prstGeom>
          <a:solidFill>
            <a:srgbClr val="3826FF">
              <a:alpha val="23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216591" y="5321808"/>
            <a:ext cx="41148" cy="41148"/>
          </a:xfrm>
          <a:prstGeom prst="ellipse">
            <a:avLst/>
          </a:prstGeom>
          <a:solidFill>
            <a:srgbClr val="3826FF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362895" y="5321808"/>
            <a:ext cx="41148" cy="41148"/>
          </a:xfrm>
          <a:prstGeom prst="ellipse">
            <a:avLst/>
          </a:prstGeom>
          <a:solidFill>
            <a:srgbClr val="3826FF">
              <a:alpha val="33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509199" y="5321808"/>
            <a:ext cx="41148" cy="41148"/>
          </a:xfrm>
          <a:prstGeom prst="ellipse">
            <a:avLst/>
          </a:prstGeom>
          <a:solidFill>
            <a:srgbClr val="3826FF">
              <a:alpha val="3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655503" y="5321808"/>
            <a:ext cx="41148" cy="41148"/>
          </a:xfrm>
          <a:prstGeom prst="ellipse">
            <a:avLst/>
          </a:prstGeom>
          <a:solidFill>
            <a:srgbClr val="3826FF">
              <a:alpha val="23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801807" y="5321808"/>
            <a:ext cx="41148" cy="41148"/>
          </a:xfrm>
          <a:prstGeom prst="ellipse">
            <a:avLst/>
          </a:prstGeom>
          <a:solidFill>
            <a:srgbClr val="3826FF">
              <a:alpha val="1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070287" y="5468112"/>
            <a:ext cx="41148" cy="41148"/>
          </a:xfrm>
          <a:prstGeom prst="ellipse">
            <a:avLst/>
          </a:prstGeom>
          <a:solidFill>
            <a:srgbClr val="3826FF">
              <a:alpha val="1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216591" y="5468112"/>
            <a:ext cx="41148" cy="41148"/>
          </a:xfrm>
          <a:prstGeom prst="ellipse">
            <a:avLst/>
          </a:prstGeom>
          <a:solidFill>
            <a:srgbClr val="3826FF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362895" y="5468112"/>
            <a:ext cx="41148" cy="41148"/>
          </a:xfrm>
          <a:prstGeom prst="ellipse">
            <a:avLst/>
          </a:prstGeom>
          <a:solidFill>
            <a:srgbClr val="3826FF">
              <a:alpha val="21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509199" y="5468112"/>
            <a:ext cx="41148" cy="41148"/>
          </a:xfrm>
          <a:prstGeom prst="ellipse">
            <a:avLst/>
          </a:prstGeom>
          <a:solidFill>
            <a:srgbClr val="3826FF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655503" y="5468112"/>
            <a:ext cx="41148" cy="41148"/>
          </a:xfrm>
          <a:prstGeom prst="ellipse">
            <a:avLst/>
          </a:prstGeom>
          <a:solidFill>
            <a:srgbClr val="3826FF">
              <a:alpha val="1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216591" y="5614416"/>
            <a:ext cx="41148" cy="41148"/>
          </a:xfrm>
          <a:prstGeom prst="ellipse">
            <a:avLst/>
          </a:prstGeom>
          <a:solidFill>
            <a:srgbClr val="3826FF">
              <a:alpha val="9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362895" y="5614416"/>
            <a:ext cx="41148" cy="41148"/>
          </a:xfrm>
          <a:prstGeom prst="ellipse">
            <a:avLst/>
          </a:prstGeom>
          <a:solidFill>
            <a:srgbClr val="3826FF">
              <a:alpha val="1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509199" y="5614416"/>
            <a:ext cx="41148" cy="41148"/>
          </a:xfrm>
          <a:prstGeom prst="ellipse">
            <a:avLst/>
          </a:prstGeom>
          <a:solidFill>
            <a:srgbClr val="3826FF">
              <a:alpha val="9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 · APR 2026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57200" y="182880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quiet dashboard for </a:t>
            </a:r>
            <a:pPr indent="0" marL="0">
              <a:buNone/>
            </a:pPr>
            <a:r>
              <a:rPr lang="en-US" sz="6400" b="1" i="1" spc="-200" kern="0" dirty="0">
                <a:solidFill>
                  <a:srgbClr val="382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loud</a:t>
            </a:r>
            <a:pPr indent="0" marL="0">
              <a:buNone/>
            </a:pPr>
            <a:r>
              <a:rPr lang="en-US" sz="6400" b="1" spc="-200" kern="0" dirty="0">
                <a:solidFill>
                  <a:srgbClr val="0B0B1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review seasons.</a:t>
            </a:r>
            <a:endParaRPr lang="en-US" sz="6400" dirty="0"/>
          </a:p>
        </p:txBody>
      </p:sp>
      <p:sp>
        <p:nvSpPr>
          <p:cNvPr id="63" name="Text 61"/>
          <p:cNvSpPr/>
          <p:nvPr/>
        </p:nvSpPr>
        <p:spPr>
          <a:xfrm>
            <a:off x="457200" y="4206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Receipts ready. Goals classified. Widgets written by your AI.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7D7D8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Review time writes itself.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57200" y="6035040"/>
            <a:ext cx="11277295" cy="0"/>
          </a:xfrm>
          <a:prstGeom prst="line">
            <a:avLst/>
          </a:prstGeom>
          <a:noFill/>
          <a:ln w="6350">
            <a:solidFill>
              <a:srgbClr val="DCDAC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6217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ESPACE.DEV / DEVHUB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534095" y="6217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QUESTIONS WELCOME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382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pPr algn="r" indent="0" marL="0">
              <a:buNone/>
            </a:pPr>
            <a:r>
              <a:rPr lang="en-US" sz="900" spc="400" kern="0" dirty="0">
                <a:solidFill>
                  <a:srgbClr val="7D7D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eSpace Dev Hub — Stakeholder Overview</dc:title>
  <dc:subject>PptxGenJS Presentation</dc:subject>
  <dc:creator>eSpace Dev Hub</dc:creator>
  <cp:lastModifiedBy>eSpace Dev Hub</cp:lastModifiedBy>
  <cp:revision>1</cp:revision>
  <dcterms:created xsi:type="dcterms:W3CDTF">2026-04-26T09:08:38Z</dcterms:created>
  <dcterms:modified xsi:type="dcterms:W3CDTF">2026-04-26T09:08:38Z</dcterms:modified>
</cp:coreProperties>
</file>